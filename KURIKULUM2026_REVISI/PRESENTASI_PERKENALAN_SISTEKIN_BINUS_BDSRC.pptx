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salam. Sampaikan: kami datang bukan sebagai prodi lama yang mencari validasi, tetapi partner muda yang lincah untuk riset AI terapan bersama BDSRC. Sebut judul tagline.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tiga angka: berdiri 2025, akreditasi Baik, 146 SKS. Visi 2045 adalah turunan VMTS universitas. Positioning: kami integrator AI, bukan pesaing riset algoritma murni. 4 Profil Lulusan K2026 (Dok. 002): PL-1 &amp; PL-2 lahir dari peminatan P1/P2, PL-3 dari P3, PL-4 lintas peminatan.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Kurikulum OBE selaras Permendikbudristek 53/2023. Tiga peminatan @18 SKS; MBKM hingga 20 SKS di semester 6-7 dapat dikonversi ke magang/riset — termasuk riset bersama BDSRC.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Pesan kunci: komplementer, bukan kompetitor. SISTEKIN kuat di implementasi sistem nyata (smart city Malang, UMKM); BDSRC kuat di kedalaman riset AI/Big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CTA: satu proyek perintis semester ini. Tawarkan follow-up: penyusunan ruang lingkup riset perintis dan jadwal diskusi teknis bersama BDSRC.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ringkasan tim. Pesan: prodi muda tapi tim riset aktif — ±790 sitasi teragregasi; tiap dosen punya klaster keilmuan yang saling melengkapi. Detail per dosen di 6 slide berikut.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Ganti placeholder foto: klik kanan lingkaran → Format Shape → Fill → Picture fill → pilih foto dosen. Fokus bidang diambil dari interest profil Google Scholar dosen (chip oranye); chip ungu = bidang keahlian tambahan dari direktori FSTI.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Ganti placeholder foto: klik kanan lingkaran → Format Shape → Fill → Picture fill → pilih foto dosen. Fokus bidang diambil dari interest profil Google Scholar dosen (chip oranye); chip ungu = bidang keahlian tambahan dari direktori FSTI.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Ganti placeholder foto: klik kanan lingkaran → Format Shape → Fill → Picture fill → pilih foto dosen. Fokus bidang diambil dari interest profil Google Scholar dosen (chip oranye); chip ungu = bidang keahlian tambahan dari direktori FSTI.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Ganti placeholder foto: klik kanan lingkaran → Format Shape → Fill → Picture fill → pilih foto dosen. Fokus bidang diambil dari interest profil Google Scholar dosen (chip oranye); chip ungu = bidang keahlian tambahan dari direktori FSTI.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Ganti placeholder foto: klik kanan lingkaran → Format Shape → Fill → Picture fill → pilih foto dosen. Fokus bidang diambil dari interest profil Google Scholar dosen (chip oranye); chip ungu = bidang keahlian tambahan dari direktori FSTI.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Ganti placeholder foto: klik kanan lingkaran → Format Shape → Fill → Picture fill → pilih foto dosen. Fokus bidang diambil dari interest profil Google Scholar dosen (chip oranye); chip ungu = bidang keahlian tambahan dari direktori FSTI.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_PRESENTASI_BINUS_BDSRC/lambang_uwg_rgb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298448" cy="12984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03920" y="566928"/>
            <a:ext cx="3136392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A3412">
                <a:alpha val="18000"/>
              </a:srgbClr>
            </a:outerShdw>
          </a:effectLst>
        </p:spPr>
      </p:sp>
      <p:pic>
        <p:nvPicPr>
          <p:cNvPr id="4" name="Image 1" descr="ASSETS_PRESENTASI_BINUS_BDSRC/logo_sistek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952" y="722376"/>
            <a:ext cx="2624328" cy="8869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27048" y="199339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FORUM KERJA SAMA FSTI UWG × BINUS BDSRC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527048" y="2304288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SISTEKIN</a:t>
            </a:r>
            <a:endParaRPr lang="en-US" sz="6400" dirty="0"/>
          </a:p>
        </p:txBody>
      </p:sp>
      <p:sp>
        <p:nvSpPr>
          <p:cNvPr id="7" name="Text 3"/>
          <p:cNvSpPr/>
          <p:nvPr/>
        </p:nvSpPr>
        <p:spPr>
          <a:xfrm>
            <a:off x="1527048" y="336499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S1 Sistem dan Teknologi Informasi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1527048" y="3895344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E3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Fakultas Sains dan Teknologi Informasi  ·  Universitas Widyagama Malang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527048" y="437083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“Integrator AI ke Sistem &amp; Platform Nyata”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527048" y="4882896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E3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Ahmad Fairuzabadi, S.Kom., M.Kom. (Kaprodi)    ·    1 Oktober 2026    ·    Malang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700016" y="5504688"/>
            <a:ext cx="278892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A3412">
                <a:alpha val="18000"/>
              </a:srgbClr>
            </a:outerShdw>
          </a:effectLst>
        </p:spPr>
      </p:sp>
      <p:pic>
        <p:nvPicPr>
          <p:cNvPr id="12" name="Image 2" descr="ASSETS_PRESENTASI_BINUS_BDSRC/bdsrc_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5669280"/>
            <a:ext cx="2478024" cy="3520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70248" y="6272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Forum Kerja Sama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_PRESENTASI_BINUS_BDSRC/lambang_uwg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28" y="292608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SISTEKIN FSTI UWG × BINUS BDSRC —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292840" y="64556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 PRODI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76809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 Singkat &amp; Visi 2045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62763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2514600" y="170078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Resmi berdiri 4 September 2025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2514600" y="208483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 Kemendiktisaintek No. 747/B/O/2025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2706624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Baik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2514600" y="277977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akreditasi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2514600" y="316382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Prodi baru — generasi pertama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3785616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146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2514600" y="38587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SKS kurikulum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2514600" y="424281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Problem-solving &amp; project-based learning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870448" y="1691640"/>
            <a:ext cx="0" cy="288036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99632" y="1627632"/>
            <a:ext cx="5440680" cy="1993392"/>
          </a:xfrm>
          <a:prstGeom prst="roundRect">
            <a:avLst>
              <a:gd name="adj" fmla="val 4587"/>
            </a:avLst>
          </a:prstGeom>
          <a:solidFill>
            <a:srgbClr val="F0E8F7"/>
          </a:solidFill>
          <a:ln/>
        </p:spPr>
      </p:sp>
      <p:sp>
        <p:nvSpPr>
          <p:cNvPr id="18" name="Text 15"/>
          <p:cNvSpPr/>
          <p:nvPr/>
        </p:nvSpPr>
        <p:spPr>
          <a:xfrm>
            <a:off x="6473952" y="1810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 2045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73952" y="2121408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“Unggul dalam pengembangan sistem &amp; teknologi informasi cerdas terintegrasi kecerdasan artifisial serta technopreneurship berbasis kebutuhan masyarakat dan industri.”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199632" y="3822192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 berfokus riset algoritma AI murni — SISTEKIN </a:t>
            </a:r>
            <a:r>
              <a:rPr lang="en-US" sz="145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mengintegrasikan AI ke sistem &amp; platform nyata</a:t>
            </a:r>
            <a:r>
              <a:rPr lang="en-US" sz="14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UMKM, pendidikan, layanan publik, industri kreatif.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48640" y="4864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PROFIL LULUSAN — KURIKULUM 2026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5193792"/>
            <a:ext cx="2697480" cy="658368"/>
          </a:xfrm>
          <a:prstGeom prst="roundRect">
            <a:avLst>
              <a:gd name="adj" fmla="val 12500"/>
            </a:avLst>
          </a:prstGeom>
          <a:solidFill>
            <a:srgbClr val="FDEADF"/>
          </a:solidFill>
          <a:ln/>
        </p:spPr>
      </p:sp>
      <p:sp>
        <p:nvSpPr>
          <p:cNvPr id="23" name="Text 20"/>
          <p:cNvSpPr/>
          <p:nvPr/>
        </p:nvSpPr>
        <p:spPr>
          <a:xfrm>
            <a:off x="621792" y="5193792"/>
            <a:ext cx="2551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PL-1  </a:t>
            </a: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Information Systems &amp; Data/AI Engineer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3355848" y="5193792"/>
            <a:ext cx="2697480" cy="658368"/>
          </a:xfrm>
          <a:prstGeom prst="roundRect">
            <a:avLst>
              <a:gd name="adj" fmla="val 12500"/>
            </a:avLst>
          </a:prstGeom>
          <a:solidFill>
            <a:srgbClr val="FDEADF"/>
          </a:solidFill>
          <a:ln/>
        </p:spPr>
      </p:sp>
      <p:sp>
        <p:nvSpPr>
          <p:cNvPr id="25" name="Text 22"/>
          <p:cNvSpPr/>
          <p:nvPr/>
        </p:nvSpPr>
        <p:spPr>
          <a:xfrm>
            <a:off x="3429000" y="5193792"/>
            <a:ext cx="2551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PL-2  </a:t>
            </a: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Infrastructure, Cybersecurity &amp; Smart Systems Integrator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163056" y="5193792"/>
            <a:ext cx="2697480" cy="658368"/>
          </a:xfrm>
          <a:prstGeom prst="roundRect">
            <a:avLst>
              <a:gd name="adj" fmla="val 12500"/>
            </a:avLst>
          </a:prstGeom>
          <a:solidFill>
            <a:srgbClr val="FDEADF"/>
          </a:solidFill>
          <a:ln/>
        </p:spPr>
      </p:sp>
      <p:sp>
        <p:nvSpPr>
          <p:cNvPr id="27" name="Text 24"/>
          <p:cNvSpPr/>
          <p:nvPr/>
        </p:nvSpPr>
        <p:spPr>
          <a:xfrm>
            <a:off x="6236208" y="5193792"/>
            <a:ext cx="2551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PL-3  </a:t>
            </a: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UI/UX Designer &amp; Digital Platform Engineer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970264" y="5193792"/>
            <a:ext cx="2697480" cy="658368"/>
          </a:xfrm>
          <a:prstGeom prst="roundRect">
            <a:avLst>
              <a:gd name="adj" fmla="val 12500"/>
            </a:avLst>
          </a:prstGeom>
          <a:solidFill>
            <a:srgbClr val="FDEADF"/>
          </a:solidFill>
          <a:ln/>
        </p:spPr>
      </p:sp>
      <p:sp>
        <p:nvSpPr>
          <p:cNvPr id="29" name="Text 26"/>
          <p:cNvSpPr/>
          <p:nvPr/>
        </p:nvSpPr>
        <p:spPr>
          <a:xfrm>
            <a:off x="9043416" y="5193792"/>
            <a:ext cx="2551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PL-4  </a:t>
            </a: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Technopreneur &amp; IT Product Innovator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_PRESENTASI_BINUS_BDSRC/lambang_uwg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28" y="292608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SISTEKIN FSTI UWG × BINUS BDSRC —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292840" y="64556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KURIKULUM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76809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Kurikulum OBE 2026 Berbasis Proyek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PEMINATAN — MAHASISWA MEMILIH SATU PAKET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700784"/>
            <a:ext cx="3557016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A3412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4672" y="18470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04672" y="230428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Integrated Smart Systems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04672" y="28529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Paket peminatan @18 SKS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15968" y="1700784"/>
            <a:ext cx="3557016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A3412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572000" y="18470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P2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572000" y="230428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Infrastructure &amp; Cybersecurity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572000" y="28529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Paket peminatan @18 SKS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83296" y="1700784"/>
            <a:ext cx="3557016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A3412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339328" y="18470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339328" y="230428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Platform Engineering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8339328" y="28529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Paket peminatan @18 SKS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3456432"/>
            <a:ext cx="12188952" cy="1371600"/>
          </a:xfrm>
          <a:prstGeom prst="rect">
            <a:avLst/>
          </a:prstGeom>
          <a:solidFill>
            <a:srgbClr val="FDEADF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36393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4E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48640" y="4023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Outcome-Based Education — Permendikbudristek 53/2023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3355848" y="36393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4E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Project-Based Learning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3355848" y="4023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Metode pembelajaran utama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163056" y="36393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4E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MBKM hingga 20 SKS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163056" y="4023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Fleksibilitas magang &amp; riset, semester 6-7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970264" y="36393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4E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Titik Asesmen Baku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8970264" y="4023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Skema penilaian seragam per mata kuliah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MK UNGGULAN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8640" y="5340096"/>
            <a:ext cx="2057400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5875">
            <a:solidFill>
              <a:srgbClr val="F26A2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8640" y="534009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2770632" y="5340096"/>
            <a:ext cx="2148840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5875">
            <a:solidFill>
              <a:srgbClr val="F26A2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70632" y="534009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Internet of Things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5084064" y="5340096"/>
            <a:ext cx="1051560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5875">
            <a:solidFill>
              <a:srgbClr val="F26A2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84064" y="534009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UI/UX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300216" y="5340096"/>
            <a:ext cx="2423160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5875">
            <a:solidFill>
              <a:srgbClr val="F26A2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00216" y="5340096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Warehouse &amp; BI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8887968" y="5340096"/>
            <a:ext cx="1508760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5875">
            <a:solidFill>
              <a:srgbClr val="F26A2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887968" y="5340096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City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548640" y="594360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Mahasiswa lulus dengan </a:t>
            </a:r>
            <a:r>
              <a:rPr lang="en-US" sz="1650" b="1" dirty="0">
                <a:solidFill>
                  <a:srgbClr val="D94E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portofolio proyek nyata</a:t>
            </a:r>
            <a:r>
              <a:rPr lang="en-US" sz="16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bukan sekadar transkrip.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_PRESENTASI_BINUS_BDSRC/lambang_uwg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28" y="292608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SISTEKIN FSTI UWG × BINUS BDSRC —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292840" y="64556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RISET &amp; SINERGI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76809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Kapasitas Riset &amp; Sinergi dengan BDSRC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517904"/>
            <a:ext cx="182880" cy="182880"/>
          </a:xfrm>
          <a:prstGeom prst="ellipse">
            <a:avLst/>
          </a:prstGeom>
          <a:solidFill>
            <a:srgbClr val="F26A21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4264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SISTEKIN — FSTI UWG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02082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DEADF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2130552"/>
            <a:ext cx="91440" cy="91440"/>
          </a:xfrm>
          <a:prstGeom prst="ellipse">
            <a:avLst/>
          </a:prstGeom>
          <a:solidFill>
            <a:srgbClr val="F26A21"/>
          </a:solidFill>
          <a:ln/>
        </p:spPr>
      </p:sp>
      <p:sp>
        <p:nvSpPr>
          <p:cNvPr id="11" name="Text 8"/>
          <p:cNvSpPr/>
          <p:nvPr/>
        </p:nvSpPr>
        <p:spPr>
          <a:xfrm>
            <a:off x="1024128" y="199339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Keahlian dosen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24128" y="234086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learning, image processing, text mining, fuzzy logic, VR/AR, audio signal processing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06324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DEADF"/>
          </a:solidFill>
          <a:ln/>
        </p:spPr>
      </p:sp>
      <p:sp>
        <p:nvSpPr>
          <p:cNvPr id="14" name="Shape 11"/>
          <p:cNvSpPr/>
          <p:nvPr/>
        </p:nvSpPr>
        <p:spPr>
          <a:xfrm>
            <a:off x="658368" y="3172968"/>
            <a:ext cx="91440" cy="91440"/>
          </a:xfrm>
          <a:prstGeom prst="ellipse">
            <a:avLst/>
          </a:prstGeom>
          <a:solidFill>
            <a:srgbClr val="F26A21"/>
          </a:solidFill>
          <a:ln/>
        </p:spPr>
      </p:sp>
      <p:sp>
        <p:nvSpPr>
          <p:cNvPr id="15" name="Text 12"/>
          <p:cNvSpPr/>
          <p:nvPr/>
        </p:nvSpPr>
        <p:spPr>
          <a:xfrm>
            <a:off x="1024128" y="303580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Fasilitas lab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24128" y="3383280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komputer, lab multimedia &amp; IoT, ruang kolaborasi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4105656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DEADF"/>
          </a:solidFill>
          <a:ln/>
        </p:spPr>
      </p:sp>
      <p:sp>
        <p:nvSpPr>
          <p:cNvPr id="18" name="Shape 15"/>
          <p:cNvSpPr/>
          <p:nvPr/>
        </p:nvSpPr>
        <p:spPr>
          <a:xfrm>
            <a:off x="658368" y="4215384"/>
            <a:ext cx="91440" cy="91440"/>
          </a:xfrm>
          <a:prstGeom prst="ellipse">
            <a:avLst/>
          </a:prstGeom>
          <a:solidFill>
            <a:srgbClr val="F26A21"/>
          </a:solidFill>
          <a:ln/>
        </p:spPr>
      </p:sp>
      <p:sp>
        <p:nvSpPr>
          <p:cNvPr id="19" name="Text 16"/>
          <p:cNvSpPr/>
          <p:nvPr/>
        </p:nvSpPr>
        <p:spPr>
          <a:xfrm>
            <a:off x="1024128" y="407822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Fokus penerapan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24128" y="4425696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city Malang, UMKM, pendidikan, industri kreatif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596128" y="2395728"/>
            <a:ext cx="960120" cy="384048"/>
          </a:xfrm>
          <a:prstGeom prst="rightArrow">
            <a:avLst/>
          </a:prstGeom>
          <a:solidFill>
            <a:srgbClr val="F26A21"/>
          </a:solidFill>
          <a:ln/>
        </p:spPr>
      </p:sp>
      <p:sp>
        <p:nvSpPr>
          <p:cNvPr id="22" name="Shape 19"/>
          <p:cNvSpPr/>
          <p:nvPr/>
        </p:nvSpPr>
        <p:spPr>
          <a:xfrm>
            <a:off x="5596128" y="2999232"/>
            <a:ext cx="960120" cy="384048"/>
          </a:xfrm>
          <a:prstGeom prst="leftArrow">
            <a:avLst/>
          </a:prstGeom>
          <a:solidFill>
            <a:srgbClr val="5B2D8E"/>
          </a:solidFill>
          <a:ln/>
        </p:spPr>
      </p:sp>
      <p:sp>
        <p:nvSpPr>
          <p:cNvPr id="23" name="Text 20"/>
          <p:cNvSpPr/>
          <p:nvPr/>
        </p:nvSpPr>
        <p:spPr>
          <a:xfrm>
            <a:off x="5504688" y="34930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SINERGI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858000" y="1517904"/>
            <a:ext cx="182880" cy="18288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25" name="Text 22"/>
          <p:cNvSpPr/>
          <p:nvPr/>
        </p:nvSpPr>
        <p:spPr>
          <a:xfrm>
            <a:off x="7178040" y="14264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BINUS — BDSRC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858000" y="202082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0E8F7"/>
          </a:solidFill>
          <a:ln/>
        </p:spPr>
      </p:sp>
      <p:sp>
        <p:nvSpPr>
          <p:cNvPr id="27" name="Shape 24"/>
          <p:cNvSpPr/>
          <p:nvPr/>
        </p:nvSpPr>
        <p:spPr>
          <a:xfrm>
            <a:off x="6967728" y="2130552"/>
            <a:ext cx="91440" cy="914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28" name="Text 25"/>
          <p:cNvSpPr/>
          <p:nvPr/>
        </p:nvSpPr>
        <p:spPr>
          <a:xfrm>
            <a:off x="7333488" y="199339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Big Data &amp; IIoT Sensor Analytics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333488" y="2340864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Bidang riset inti BDSRC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858000" y="306324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0E8F7"/>
          </a:solidFill>
          <a:ln/>
        </p:spPr>
      </p:sp>
      <p:sp>
        <p:nvSpPr>
          <p:cNvPr id="31" name="Shape 28"/>
          <p:cNvSpPr/>
          <p:nvPr/>
        </p:nvSpPr>
        <p:spPr>
          <a:xfrm>
            <a:off x="6967728" y="3172968"/>
            <a:ext cx="91440" cy="914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32" name="Text 29"/>
          <p:cNvSpPr/>
          <p:nvPr/>
        </p:nvSpPr>
        <p:spPr>
          <a:xfrm>
            <a:off x="7333488" y="303580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R&amp;D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7333488" y="338328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Riset &amp; pengembangan kecerdasan artifisial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858000" y="4105656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0E8F7"/>
          </a:solidFill>
          <a:ln/>
        </p:spPr>
      </p:sp>
      <p:sp>
        <p:nvSpPr>
          <p:cNvPr id="35" name="Shape 32"/>
          <p:cNvSpPr/>
          <p:nvPr/>
        </p:nvSpPr>
        <p:spPr>
          <a:xfrm>
            <a:off x="6967728" y="4215384"/>
            <a:ext cx="91440" cy="914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36" name="Text 33"/>
          <p:cNvSpPr/>
          <p:nvPr/>
        </p:nvSpPr>
        <p:spPr>
          <a:xfrm>
            <a:off x="7333488" y="407822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Bioinformatics &amp; Data Science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7333488" y="4425696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science untuk sains &amp; industri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0" y="5321808"/>
            <a:ext cx="12188952" cy="932688"/>
          </a:xfrm>
          <a:prstGeom prst="rect">
            <a:avLst/>
          </a:prstGeom>
          <a:solidFill>
            <a:srgbClr val="FDEADF"/>
          </a:solidFill>
          <a:ln/>
        </p:spPr>
      </p:sp>
      <p:sp>
        <p:nvSpPr>
          <p:cNvPr id="39" name="Text 36"/>
          <p:cNvSpPr/>
          <p:nvPr/>
        </p:nvSpPr>
        <p:spPr>
          <a:xfrm>
            <a:off x="822960" y="5321808"/>
            <a:ext cx="105430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SISTEKIN membawa </a:t>
            </a:r>
            <a:r>
              <a:rPr lang="en-US" sz="1550" b="1" dirty="0">
                <a:solidFill>
                  <a:srgbClr val="D94E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&amp; implementasi</a:t>
            </a:r>
            <a:r>
              <a:rPr lang="en-US" sz="15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BDSRC membawa </a:t>
            </a:r>
            <a:r>
              <a:rPr lang="en-US" sz="155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kedalaman riset &amp; data</a:t>
            </a:r>
            <a:r>
              <a:rPr lang="en-US" sz="15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riset terapan dari hulu (model) ke hilir (sistem nyata).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_PRESENTASI_BINUS_BDSRC/lambang_uwg_rgb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92608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FORUM KERJA SAMA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Peluang Kolaborasi SISTEKIN × BDSRC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700784"/>
            <a:ext cx="457200" cy="45720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07008" y="166420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MBKM</a:t>
            </a:r>
            <a:r>
              <a:rPr lang="en-US" sz="15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magang &amp; riset mahasiswa SISTEKIN di BDSRC (konversi hingga 20 SKS)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48640" y="2432304"/>
            <a:ext cx="457200" cy="45720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07008" y="239572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Riset &amp; publikasi bersama</a:t>
            </a:r>
            <a:r>
              <a:rPr lang="en-US" sz="15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AI terapan, big data, smart systems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48640" y="3163824"/>
            <a:ext cx="457200" cy="45720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07008" y="312724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Guest lecture &amp; dosen praktisi</a:t>
            </a:r>
            <a:r>
              <a:rPr lang="en-US" sz="15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lintas kampus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548640" y="3895344"/>
            <a:ext cx="457200" cy="45720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07008" y="38587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Proyek nyata bersama</a:t>
            </a:r>
            <a:r>
              <a:rPr lang="en-US" sz="15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capstone berbasis use case Malang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548640" y="4626864"/>
            <a:ext cx="457200" cy="45720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626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07008" y="459028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engagement</a:t>
            </a:r>
            <a:r>
              <a:rPr lang="en-US" sz="15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pemberdayaan digital UMKM &amp; layanan publik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548640" y="546811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3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sistekin.widyagama.ac.id    ·    @fsti.uwg    ·    Kampus II Jl. Borobudur No. 35 Malang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465576" y="5925312"/>
            <a:ext cx="52578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A3412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465576" y="5925312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Mari mulai dari satu proyek perintis — semester ini.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9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SISTEKIN FSTI UWG × BINUS BDSRC — 2026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292840" y="64556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_PRESENTASI_BINUS_BDSRC/lambang_uwg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28" y="292608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SISTEKIN FSTI UWG × BINUS BDSRC —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292840" y="64556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RISET &amp; PENGABDIAN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76809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 Dosen Homebase SISTEKIN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±800</a:t>
            </a:r>
            <a:endParaRPr lang="en-US" sz="6600" dirty="0"/>
          </a:p>
        </p:txBody>
      </p:sp>
      <p:sp>
        <p:nvSpPr>
          <p:cNvPr id="8" name="Text 5"/>
          <p:cNvSpPr/>
          <p:nvPr/>
        </p:nvSpPr>
        <p:spPr>
          <a:xfrm>
            <a:off x="548640" y="28529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sitasi Google Scholar teragregasi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5661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dosen homebase · snapshot 1 Okt 2026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Angka diverifikasi langsung dari profil Google Scholar &amp; SINTA tiap dosen.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977640" y="1783080"/>
            <a:ext cx="0" cy="41605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15968" y="1783080"/>
            <a:ext cx="603504" cy="603504"/>
          </a:xfrm>
          <a:prstGeom prst="roundRect">
            <a:avLst>
              <a:gd name="adj" fmla="val 13636"/>
            </a:avLst>
          </a:prstGeom>
          <a:solidFill>
            <a:srgbClr val="F0E8F7"/>
          </a:solidFill>
          <a:ln/>
        </p:spPr>
      </p:sp>
      <p:sp>
        <p:nvSpPr>
          <p:cNvPr id="12" name="Text 9"/>
          <p:cNvSpPr/>
          <p:nvPr/>
        </p:nvSpPr>
        <p:spPr>
          <a:xfrm>
            <a:off x="4315968" y="1783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074920" y="17556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Syahroni Wahyu Iriananda, S.Kom., M.T.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74920" y="2057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Science · AI · NLP · Text Mining</a:t>
            </a:r>
            <a:r>
              <a:rPr lang="en-US" sz="115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  Kaprodi SISTEKIN 2026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0058400" y="181051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511</a:t>
            </a: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sitasi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4315968" y="2505456"/>
            <a:ext cx="603504" cy="603504"/>
          </a:xfrm>
          <a:prstGeom prst="roundRect">
            <a:avLst>
              <a:gd name="adj" fmla="val 13636"/>
            </a:avLst>
          </a:prstGeom>
          <a:solidFill>
            <a:srgbClr val="FDEADF"/>
          </a:solidFill>
          <a:ln/>
        </p:spPr>
      </p:sp>
      <p:sp>
        <p:nvSpPr>
          <p:cNvPr id="17" name="Text 14"/>
          <p:cNvSpPr/>
          <p:nvPr/>
        </p:nvSpPr>
        <p:spPr>
          <a:xfrm>
            <a:off x="4315968" y="250545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5074920" y="24780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Rangga Pahlevi Putra, S.Pd., M.T.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74920" y="27797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Processing · Biometric · Computer Vision</a:t>
            </a: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  Dosen Homebase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0058400" y="253288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</a:t>
            </a: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sitasi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4315968" y="3227832"/>
            <a:ext cx="603504" cy="603504"/>
          </a:xfrm>
          <a:prstGeom prst="roundRect">
            <a:avLst>
              <a:gd name="adj" fmla="val 13636"/>
            </a:avLst>
          </a:prstGeom>
          <a:solidFill>
            <a:srgbClr val="FDEADF"/>
          </a:solidFill>
          <a:ln/>
        </p:spPr>
      </p:sp>
      <p:sp>
        <p:nvSpPr>
          <p:cNvPr id="22" name="Text 19"/>
          <p:cNvSpPr/>
          <p:nvPr/>
        </p:nvSpPr>
        <p:spPr>
          <a:xfrm>
            <a:off x="4315968" y="32278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5074920" y="32004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Ismail Akbar, S.Kom., M.Kom.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074920" y="35021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Mining · NLP · Deep Learning · Optimization</a:t>
            </a: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  Dosen Homebase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0058400" y="3255264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123</a:t>
            </a: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sitasi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4315968" y="3950208"/>
            <a:ext cx="603504" cy="603504"/>
          </a:xfrm>
          <a:prstGeom prst="roundRect">
            <a:avLst>
              <a:gd name="adj" fmla="val 13636"/>
            </a:avLst>
          </a:prstGeom>
          <a:solidFill>
            <a:srgbClr val="FDEADF"/>
          </a:solidFill>
          <a:ln/>
        </p:spPr>
      </p:sp>
      <p:sp>
        <p:nvSpPr>
          <p:cNvPr id="27" name="Text 24"/>
          <p:cNvSpPr/>
          <p:nvPr/>
        </p:nvSpPr>
        <p:spPr>
          <a:xfrm>
            <a:off x="4315968" y="39502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5074920" y="39227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Affi Nizar Suksmawati, S.Kom., M.Cs.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074920" y="4224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Expert System · Fuzzy Logic · ML · Health Informatics</a:t>
            </a: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  Dosen Homebase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058400" y="397764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</a:t>
            </a: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sitasi</a:t>
            </a:r>
            <a:endParaRPr lang="en-US" sz="1900" dirty="0"/>
          </a:p>
        </p:txBody>
      </p:sp>
      <p:sp>
        <p:nvSpPr>
          <p:cNvPr id="31" name="Shape 28"/>
          <p:cNvSpPr/>
          <p:nvPr/>
        </p:nvSpPr>
        <p:spPr>
          <a:xfrm>
            <a:off x="4315968" y="4672584"/>
            <a:ext cx="603504" cy="603504"/>
          </a:xfrm>
          <a:prstGeom prst="roundRect">
            <a:avLst>
              <a:gd name="adj" fmla="val 13636"/>
            </a:avLst>
          </a:prstGeom>
          <a:solidFill>
            <a:srgbClr val="FDEADF"/>
          </a:solidFill>
          <a:ln/>
        </p:spPr>
      </p:sp>
      <p:sp>
        <p:nvSpPr>
          <p:cNvPr id="32" name="Text 29"/>
          <p:cNvSpPr/>
          <p:nvPr/>
        </p:nvSpPr>
        <p:spPr>
          <a:xfrm>
            <a:off x="4315968" y="46725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5074920" y="46451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 Septiani, S.Kom., M.Kom.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074920" y="49469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Manajemen SI · VR &amp; AR · Multimedia 3D</a:t>
            </a: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  Dosen Homebase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058400" y="470001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sitasi</a:t>
            </a:r>
            <a:endParaRPr lang="en-US" sz="1900" dirty="0"/>
          </a:p>
        </p:txBody>
      </p:sp>
      <p:sp>
        <p:nvSpPr>
          <p:cNvPr id="36" name="Shape 33"/>
          <p:cNvSpPr/>
          <p:nvPr/>
        </p:nvSpPr>
        <p:spPr>
          <a:xfrm>
            <a:off x="4315968" y="5394960"/>
            <a:ext cx="603504" cy="603504"/>
          </a:xfrm>
          <a:prstGeom prst="roundRect">
            <a:avLst>
              <a:gd name="adj" fmla="val 13636"/>
            </a:avLst>
          </a:prstGeom>
          <a:solidFill>
            <a:srgbClr val="FDEADF"/>
          </a:solidFill>
          <a:ln/>
        </p:spPr>
      </p:sp>
      <p:sp>
        <p:nvSpPr>
          <p:cNvPr id="37" name="Text 34"/>
          <p:cNvSpPr/>
          <p:nvPr/>
        </p:nvSpPr>
        <p:spPr>
          <a:xfrm>
            <a:off x="4315968" y="5394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700" dirty="0"/>
          </a:p>
        </p:txBody>
      </p:sp>
      <p:sp>
        <p:nvSpPr>
          <p:cNvPr id="38" name="Text 35"/>
          <p:cNvSpPr/>
          <p:nvPr/>
        </p:nvSpPr>
        <p:spPr>
          <a:xfrm>
            <a:off x="5074920" y="53675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Mamba'us Sa'adah, S.ST., M.T.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5074920" y="5669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 Signal Processing · Multimedia</a:t>
            </a: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  Dosen Homebase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058400" y="542239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sitasi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_PRESENTASI_BINUS_BDSRC/lambang_uwg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28" y="292608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SISTEKIN FSTI UWG × BINUS BDSRC —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292840" y="64556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KAPRODI SISTEKIN 2026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281160" y="457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77240" y="1481328"/>
            <a:ext cx="2331720" cy="2331720"/>
          </a:xfrm>
          <a:prstGeom prst="ellipse">
            <a:avLst/>
          </a:prstGeom>
          <a:solidFill>
            <a:srgbClr val="FDEADF"/>
          </a:solidFill>
          <a:ln w="19050">
            <a:solidFill>
              <a:srgbClr val="F26A21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777240" y="1481328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502920" y="393192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placeholder foto dosen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703320" y="1481328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Syahroni Wahyu Iriananda, S.Kom., M.T.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3703320" y="212140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Kaprodi SISTEKIN 2026 · M.T. Universitas Brawijaya (2018)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703320" y="263347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FOKUS BIDANG PENELITIAN — GOOGLE SCHOLAR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703320" y="2962656"/>
            <a:ext cx="1294790" cy="475488"/>
          </a:xfrm>
          <a:prstGeom prst="roundRect">
            <a:avLst>
              <a:gd name="adj" fmla="val 50000"/>
            </a:avLst>
          </a:prstGeom>
          <a:solidFill>
            <a:srgbClr val="FDEADF"/>
          </a:solidFill>
          <a:ln/>
        </p:spPr>
      </p:sp>
      <p:sp>
        <p:nvSpPr>
          <p:cNvPr id="14" name="Text 11"/>
          <p:cNvSpPr/>
          <p:nvPr/>
        </p:nvSpPr>
        <p:spPr>
          <a:xfrm>
            <a:off x="3703320" y="2962656"/>
            <a:ext cx="129479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Science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144414" y="2962656"/>
            <a:ext cx="2179930" cy="475488"/>
          </a:xfrm>
          <a:prstGeom prst="roundRect">
            <a:avLst>
              <a:gd name="adj" fmla="val 50000"/>
            </a:avLst>
          </a:prstGeom>
          <a:solidFill>
            <a:srgbClr val="FDEADF"/>
          </a:solidFill>
          <a:ln/>
        </p:spPr>
      </p:sp>
      <p:sp>
        <p:nvSpPr>
          <p:cNvPr id="16" name="Text 13"/>
          <p:cNvSpPr/>
          <p:nvPr/>
        </p:nvSpPr>
        <p:spPr>
          <a:xfrm>
            <a:off x="5144414" y="2962656"/>
            <a:ext cx="21799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Artificial Intelligence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470648" y="2962656"/>
            <a:ext cx="1616659" cy="475488"/>
          </a:xfrm>
          <a:prstGeom prst="roundRect">
            <a:avLst>
              <a:gd name="adj" fmla="val 50000"/>
            </a:avLst>
          </a:prstGeom>
          <a:solidFill>
            <a:srgbClr val="FDEADF"/>
          </a:solidFill>
          <a:ln/>
        </p:spPr>
      </p:sp>
      <p:sp>
        <p:nvSpPr>
          <p:cNvPr id="18" name="Text 15"/>
          <p:cNvSpPr/>
          <p:nvPr/>
        </p:nvSpPr>
        <p:spPr>
          <a:xfrm>
            <a:off x="7470648" y="2962656"/>
            <a:ext cx="16166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9233611" y="2962656"/>
            <a:ext cx="570586" cy="475488"/>
          </a:xfrm>
          <a:prstGeom prst="roundRect">
            <a:avLst>
              <a:gd name="adj" fmla="val 50000"/>
            </a:avLst>
          </a:prstGeom>
          <a:solidFill>
            <a:srgbClr val="FDEADF"/>
          </a:solidFill>
          <a:ln/>
        </p:spPr>
      </p:sp>
      <p:sp>
        <p:nvSpPr>
          <p:cNvPr id="20" name="Text 17"/>
          <p:cNvSpPr/>
          <p:nvPr/>
        </p:nvSpPr>
        <p:spPr>
          <a:xfrm>
            <a:off x="9233611" y="2962656"/>
            <a:ext cx="5705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NLP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3703320" y="3584448"/>
            <a:ext cx="2018995" cy="475488"/>
          </a:xfrm>
          <a:prstGeom prst="roundRect">
            <a:avLst>
              <a:gd name="adj" fmla="val 50000"/>
            </a:avLst>
          </a:prstGeom>
          <a:solidFill>
            <a:srgbClr val="FDEADF"/>
          </a:solidFill>
          <a:ln/>
        </p:spPr>
      </p:sp>
      <p:sp>
        <p:nvSpPr>
          <p:cNvPr id="22" name="Text 19"/>
          <p:cNvSpPr/>
          <p:nvPr/>
        </p:nvSpPr>
        <p:spPr>
          <a:xfrm>
            <a:off x="3703320" y="3584448"/>
            <a:ext cx="20189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Retrieval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3703320" y="4626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SOROTAN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3703320" y="4901184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Gamifikasi: Konsep dan Penerapan (JOINTECS 2020) — </a:t>
            </a: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214 sitasi, salah satu karya paling disitasi di lingkungan FSTI.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3703320" y="56875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511  </a:t>
            </a: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Sitasi Scholar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6400800" y="56875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 </a:t>
            </a: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h-index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9098280" y="56875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259792  </a:t>
            </a: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SINTA ID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_PRESENTASI_BINUS_BDSRC/lambang_uwg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28" y="292608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SISTEKIN FSTI UWG × BINUS BDSRC —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292840" y="64556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KAPRODI SISTEKIN 2026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7498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Syahroni Wahyu Iriananda, S.Kom., M.T.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13350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Science · Artificial Intelligence · Machine Learning · NLP · Information Retrieval · Text Mining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92440" y="5120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SITASI SCHOLAR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7315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511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92440" y="13167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SINTA ID: </a:t>
            </a: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259792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15200" y="15910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h-index 7 · Rekam jejak tertinggi di FSTI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1828800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PENELITIAN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2377440"/>
            <a:ext cx="53949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Rekam jejak terkuat di klaster Data Science &amp; NLP: text mining, ensemble learning, dan deep learning untuk problem riil — diagnosis diabetes, deteksi outlier kredit, klasifikasi penyakit tanaman, analisis sentimen, hingga information retrieval dokumen pengaduan.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4041648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Gamifikasi: Konsep dan Penerapan (JOINTECS 2020 — 214 sitasi)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Integrating SMOTE-Tomek &amp; Fusion Learning with XGBoost Meta-Learner — Diabetes Recognition (2024)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Outlier Detection using GMM Clustering to Optimize XGBoost for Credit Approval (2024)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Analyzing InceptionV3 &amp; InceptionResNetV2 — Rice Leaf Disease Classification (2024)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Optimasi Klasifikasi Sentimen Komentar Game Bergerak — SVM, Grid Search, N-Gram (2024)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55080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PENGABDIAN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55080" y="2377440"/>
            <a:ext cx="528523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Digitalisasi UMKM, pemberdayaan guru PAUD, dan transfer teknologi ke peternakan serta industri rumahan — dari pendampingan kemasan &amp; pemasaran digital hingga inovasi mesin produksi berbasis IoT.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55080" y="4041648"/>
            <a:ext cx="5285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Inovasi Mesin Tempering Cokelat Berbasis IoT — UKM Tithiek Tenger (2024)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Pelatihan Pengembangan Kompetensi Guru KB-TA Amanah Bunda Lawang (2023)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Implementasi Sinici Kudo Apps — Peternakan Kelinci Peci P'Rama, Tulungagung (2022)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Diversifikasi Produk &amp; Inovasi Kemasan — Usaha Daun Rempah Catering (2021)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Inovasi Kemasan &amp; Pemasaran Digital UMKM Tisya Herbal, Desa Mulyoarjo (2020)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_PRESENTASI_BINUS_BDSRC/lambang_uwg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28" y="292608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SISTEKIN FSTI UWG × BINUS BDSRC —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292840" y="64556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DOSEN HOMEBASE SISTEKIN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281160" y="457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77240" y="1481328"/>
            <a:ext cx="2331720" cy="2331720"/>
          </a:xfrm>
          <a:prstGeom prst="ellipse">
            <a:avLst/>
          </a:prstGeom>
          <a:solidFill>
            <a:srgbClr val="FDEADF"/>
          </a:solidFill>
          <a:ln w="19050">
            <a:solidFill>
              <a:srgbClr val="F26A21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777240" y="1481328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502920" y="393192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placeholder foto dosen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703320" y="1481328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Rangga Pahlevi Putra, S.Pd., M.T.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3703320" y="212140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Dosen Homebase · Lektor · M.T. Universitas Brawijaya (2018)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703320" y="263347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FOKUS BIDANG PENELITIAN — GOOGLE SCHOLAR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703320" y="2962656"/>
            <a:ext cx="1616659" cy="475488"/>
          </a:xfrm>
          <a:prstGeom prst="roundRect">
            <a:avLst>
              <a:gd name="adj" fmla="val 50000"/>
            </a:avLst>
          </a:prstGeom>
          <a:solidFill>
            <a:srgbClr val="FDEADF"/>
          </a:solidFill>
          <a:ln/>
        </p:spPr>
      </p:sp>
      <p:sp>
        <p:nvSpPr>
          <p:cNvPr id="14" name="Text 11"/>
          <p:cNvSpPr/>
          <p:nvPr/>
        </p:nvSpPr>
        <p:spPr>
          <a:xfrm>
            <a:off x="3703320" y="2962656"/>
            <a:ext cx="16166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Processing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66283" y="2962656"/>
            <a:ext cx="1616659" cy="475488"/>
          </a:xfrm>
          <a:prstGeom prst="roundRect">
            <a:avLst>
              <a:gd name="adj" fmla="val 50000"/>
            </a:avLst>
          </a:prstGeom>
          <a:solidFill>
            <a:srgbClr val="FDEADF"/>
          </a:solidFill>
          <a:ln/>
        </p:spPr>
      </p:sp>
      <p:sp>
        <p:nvSpPr>
          <p:cNvPr id="16" name="Text 13"/>
          <p:cNvSpPr/>
          <p:nvPr/>
        </p:nvSpPr>
        <p:spPr>
          <a:xfrm>
            <a:off x="5466283" y="2962656"/>
            <a:ext cx="16166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Biometric System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229246" y="2962656"/>
            <a:ext cx="1697126" cy="475488"/>
          </a:xfrm>
          <a:prstGeom prst="roundRect">
            <a:avLst>
              <a:gd name="adj" fmla="val 50000"/>
            </a:avLst>
          </a:prstGeom>
          <a:solidFill>
            <a:srgbClr val="FDEADF"/>
          </a:solidFill>
          <a:ln/>
        </p:spPr>
      </p:sp>
      <p:sp>
        <p:nvSpPr>
          <p:cNvPr id="18" name="Text 15"/>
          <p:cNvSpPr/>
          <p:nvPr/>
        </p:nvSpPr>
        <p:spPr>
          <a:xfrm>
            <a:off x="7229246" y="2962656"/>
            <a:ext cx="16971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Marketing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9072677" y="2962656"/>
            <a:ext cx="1214323" cy="475488"/>
          </a:xfrm>
          <a:prstGeom prst="roundRect">
            <a:avLst>
              <a:gd name="adj" fmla="val 50000"/>
            </a:avLst>
          </a:prstGeom>
          <a:solidFill>
            <a:srgbClr val="FDEADF"/>
          </a:solidFill>
          <a:ln/>
        </p:spPr>
      </p:sp>
      <p:sp>
        <p:nvSpPr>
          <p:cNvPr id="20" name="Text 17"/>
          <p:cNvSpPr/>
          <p:nvPr/>
        </p:nvSpPr>
        <p:spPr>
          <a:xfrm>
            <a:off x="9072677" y="2962656"/>
            <a:ext cx="121432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Informatics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703320" y="4626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SOROTAN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3703320" y="4901184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Identifikasi anggrek dengan Tapis Gabor &amp; M-SVM — </a:t>
            </a: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akurasi 95,4% (JOINTECS 2021); ekspansi ke deteksi deepfake wajah (2026).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3703320" y="56875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  </a:t>
            </a: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Sitasi Scholar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400800" y="56875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 </a:t>
            </a: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h-index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9098280" y="56875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6729051  </a:t>
            </a: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SINTA ID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_PRESENTASI_BINUS_BDSRC/lambang_uwg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28" y="292608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SISTEKIN FSTI UWG × BINUS BDSRC —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292840" y="64556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DOSEN HOMEBASE SISTEKIN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7498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Rangga Pahlevi Putra, S.Pd., M.T.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13350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Processing · Biometric System · Digital Marketing · Computer Vision · IoT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92440" y="5120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SITASI SCHOLAR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7315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92440" y="13167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SINTA ID: </a:t>
            </a: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6729051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15200" y="15910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h-index 5 · Lektor · M.T. UB 2018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1828800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PENELITIAN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2377440"/>
            <a:ext cx="53949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Pengolahan citra digital &amp; computer vision: tekstur Gabor + M-SVM (identifikasi anggrek akurasi 95,4%), klasifikasi kanker prostat dari citra MRI, deteksi kerusakan permukaan jalan, hingga deteksi deepfake wajah berbasis YOLOv9+CNN (2026). Kontributor paper Scopus Q2 pemilihan pemasok industri pangan halal (metode ANP).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4041648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Identifikasi Jenis Tanaman Anggrek — Tapis Gabor &amp; M-SVM (JOINTECS 2021)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Deteksi Deepfake pada Citra Biometrik Wajah — YOLOv9 &amp; CNN (CIASTECH 2026)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Klasifikasi Kanker Prostat melalui Citra MRI — Pengolahan Citra Digital (2024)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Identification of Road Surface Defects using Multiclass SVM (2023)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Selection for Halal Instant Food Industry: A Case Study Using ANP (EEJET 2024)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55080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PENGABDIAN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55080" y="2377440"/>
            <a:ext cx="528523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Digitalisasi UMKM &amp; pertanian kota: pemasaran digital produk herbal, aplikasi mobile urban farming Balearjosari, HKI Teknologi IoT Urban Farming Alam Lestari, serta sistem informasi keuangan PAUD. Penerima hibah PkM LLDIKTI.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55080" y="4041648"/>
            <a:ext cx="5285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Aplikasi Mobile Pemasaran &amp; Penjualan Urban Farming — Kel. Balearjosari, Malang (2023)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Teknologi IoT Urban Farming Alam Lestari (2023)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 Informasi Keuangan PAUD IT Putera Zaman, Kota Malang (2023)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Inovasi Kemasan &amp; Pemasaran Digital UMKM Tisya Herbal, Desa Mulyoarjo (2020)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_PRESENTASI_BINUS_BDSRC/lambang_uwg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28" y="292608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SISTEKIN FSTI UWG × BINUS BDSRC —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292840" y="64556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DOSEN HOMEBASE SISTEKIN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281160" y="457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77240" y="1481328"/>
            <a:ext cx="2331720" cy="2331720"/>
          </a:xfrm>
          <a:prstGeom prst="ellipse">
            <a:avLst/>
          </a:prstGeom>
          <a:solidFill>
            <a:srgbClr val="FDEADF"/>
          </a:solidFill>
          <a:ln w="19050">
            <a:solidFill>
              <a:srgbClr val="F26A21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777240" y="1481328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502920" y="393192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placeholder foto dosen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703320" y="1481328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Ismail Akbar, S.Kom., M.Kom.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3703320" y="212140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Dosen Homebase · M.Kom. UIN Maulana Malik Ibrahim Malang (2023)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703320" y="263347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FOKUS BIDANG PENELITIAN — GOOGLE SCHOLAR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703320" y="2962656"/>
            <a:ext cx="2501798" cy="475488"/>
          </a:xfrm>
          <a:prstGeom prst="roundRect">
            <a:avLst>
              <a:gd name="adj" fmla="val 50000"/>
            </a:avLst>
          </a:prstGeom>
          <a:solidFill>
            <a:srgbClr val="FDEADF"/>
          </a:solidFill>
          <a:ln/>
        </p:spPr>
      </p:sp>
      <p:sp>
        <p:nvSpPr>
          <p:cNvPr id="14" name="Text 11"/>
          <p:cNvSpPr/>
          <p:nvPr/>
        </p:nvSpPr>
        <p:spPr>
          <a:xfrm>
            <a:off x="3703320" y="2962656"/>
            <a:ext cx="250179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Language Processing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351422" y="2962656"/>
            <a:ext cx="1858061" cy="475488"/>
          </a:xfrm>
          <a:prstGeom prst="roundRect">
            <a:avLst>
              <a:gd name="adj" fmla="val 50000"/>
            </a:avLst>
          </a:prstGeom>
          <a:solidFill>
            <a:srgbClr val="FDEADF"/>
          </a:solidFill>
          <a:ln/>
        </p:spPr>
      </p:sp>
      <p:sp>
        <p:nvSpPr>
          <p:cNvPr id="16" name="Text 13"/>
          <p:cNvSpPr/>
          <p:nvPr/>
        </p:nvSpPr>
        <p:spPr>
          <a:xfrm>
            <a:off x="6351422" y="2962656"/>
            <a:ext cx="185806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Classification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355787" y="2962656"/>
            <a:ext cx="1375258" cy="475488"/>
          </a:xfrm>
          <a:prstGeom prst="roundRect">
            <a:avLst>
              <a:gd name="adj" fmla="val 50000"/>
            </a:avLst>
          </a:prstGeom>
          <a:solidFill>
            <a:srgbClr val="FDEADF"/>
          </a:solidFill>
          <a:ln/>
        </p:spPr>
      </p:sp>
      <p:sp>
        <p:nvSpPr>
          <p:cNvPr id="18" name="Text 15"/>
          <p:cNvSpPr/>
          <p:nvPr/>
        </p:nvSpPr>
        <p:spPr>
          <a:xfrm>
            <a:off x="8355787" y="2962656"/>
            <a:ext cx="13752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Learning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9877349" y="2962656"/>
            <a:ext cx="1616659" cy="475488"/>
          </a:xfrm>
          <a:prstGeom prst="roundRect">
            <a:avLst>
              <a:gd name="adj" fmla="val 50000"/>
            </a:avLst>
          </a:prstGeom>
          <a:solidFill>
            <a:srgbClr val="FDEADF"/>
          </a:solidFill>
          <a:ln/>
        </p:spPr>
      </p:sp>
      <p:sp>
        <p:nvSpPr>
          <p:cNvPr id="20" name="Text 17"/>
          <p:cNvSpPr/>
          <p:nvPr/>
        </p:nvSpPr>
        <p:spPr>
          <a:xfrm>
            <a:off x="9877349" y="2962656"/>
            <a:ext cx="16166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703320" y="4626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SOROTAN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3703320" y="4901184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Deteksi depresi &amp; kecemasan pengguna Twitter dengan BiLSTM — </a:t>
            </a: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 sitasi, karya terdisitasi tertinggi (2021).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3703320" y="56875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123  </a:t>
            </a: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Sitasi Scholar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400800" y="56875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 </a:t>
            </a: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h-index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9098280" y="56875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6973267  </a:t>
            </a: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SINTA ID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_PRESENTASI_BINUS_BDSRC/lambang_uwg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28" y="292608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SISTEKIN FSTI UWG × BINUS BDSRC —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292840" y="64556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DOSEN HOMEBASE SISTEKIN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7498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Ismail Akbar, S.Kom., M.Kom.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13350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Learning-Augmented Optimization · Text Mining · Artificial Intelligence · NLP · Deep Learning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92440" y="5120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SITASI SCHOLAR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7315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123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92440" y="13167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SINTA ID: </a:t>
            </a: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6973267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15200" y="15910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h-index 6 · M.Kom. UIN Malang 2023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1828800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PENELITIAN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2377440"/>
            <a:ext cx="53949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mining, deep learning &amp; learning-augmented optimization: klasifikasi multi-label terjemahan Al-Qur'an Indonesia (Bi-LSTM, CNN+FastText), deteksi depresi &amp; kecemasan pengguna Twitter, sistem pakar kesehatan (Certainty Factor &amp; Fuzzy) terintegrasi rekam medis dan e-learning, hingga speech emotion recognition.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4041648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Deteksi Depresi &amp; Kecemasan Pengguna Twitter — BiLSTM (2021 · 29 sitasi)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Multi-label Classification of Indonesian Al-Qur'an Translation — CNN, BiLSTM, FastText (Techno.Com 2024)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Perbandingan Analisis Sentimen PLN Mobile — ML vs Deep Learning (JOINTECS 2024)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Penerapan CNN — Deteksi Kualitas Telur Berdasarkan Warna Cangkang (2024)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Expert System Integrated with Medical Record — Certainty Factor (IEEE CyberneticsCom 2022)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55080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PENGABDIAN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55080" y="2377440"/>
            <a:ext cx="528523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Transfer teknologi ke masyarakat: implementasi &amp; pelatihan aplikasi Sinici Kudo untuk peternakan kelinci Peci P'Rama (Tulungagung), HKI sistem pakar e-learning berinferensi fuzzy, serta digitalisasi UMKM (POS, branding &amp; digital marketing).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55080" y="4041648"/>
            <a:ext cx="5285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 Digital Marketing — Kemandirian Ekonomi Pengrajin Selop Manten (J. SOLMA 2024)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Implementasi Sistem POS &amp; Transformasi Digital UMKM Baba Brewok (2026)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Optimalisasi Branding &amp; Digital Marketing UMKM (2026)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Implementasi Sinici Kudo Apps — Peternakan Kelinci Peci P'Rama (2022)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_PRESENTASI_BINUS_BDSRC/lambang_uwg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28" y="292608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SISTEKIN FSTI UWG × BINUS BDSRC —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292840" y="64556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DOSEN HOMEBASE SISTEKIN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281160" y="457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77240" y="1481328"/>
            <a:ext cx="2331720" cy="2331720"/>
          </a:xfrm>
          <a:prstGeom prst="ellipse">
            <a:avLst/>
          </a:prstGeom>
          <a:solidFill>
            <a:srgbClr val="FDEADF"/>
          </a:solidFill>
          <a:ln w="19050">
            <a:solidFill>
              <a:srgbClr val="F26A21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777240" y="1481328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502920" y="393192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placeholder foto dosen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703320" y="1481328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Affi Nizar Suksmawati, S.Kom., M.Cs.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3703320" y="212140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Dosen Homebase · M.Cs. Universitas Gadjah Mada (2022)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703320" y="263347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FOKUS BIDANG PENELITIAN — GOOGLE SCHOLAR + DIREKTORI FSTI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703320" y="2962656"/>
            <a:ext cx="1616659" cy="475488"/>
          </a:xfrm>
          <a:prstGeom prst="roundRect">
            <a:avLst>
              <a:gd name="adj" fmla="val 50000"/>
            </a:avLst>
          </a:prstGeom>
          <a:solidFill>
            <a:srgbClr val="FDEADF"/>
          </a:solidFill>
          <a:ln/>
        </p:spPr>
      </p:sp>
      <p:sp>
        <p:nvSpPr>
          <p:cNvPr id="14" name="Text 11"/>
          <p:cNvSpPr/>
          <p:nvPr/>
        </p:nvSpPr>
        <p:spPr>
          <a:xfrm>
            <a:off x="3703320" y="2962656"/>
            <a:ext cx="16166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66283" y="2962656"/>
            <a:ext cx="1375258" cy="475488"/>
          </a:xfrm>
          <a:prstGeom prst="roundRect">
            <a:avLst>
              <a:gd name="adj" fmla="val 50000"/>
            </a:avLst>
          </a:prstGeom>
          <a:solidFill>
            <a:srgbClr val="F0E8F7"/>
          </a:solidFill>
          <a:ln/>
        </p:spPr>
      </p:sp>
      <p:sp>
        <p:nvSpPr>
          <p:cNvPr id="16" name="Text 13"/>
          <p:cNvSpPr/>
          <p:nvPr/>
        </p:nvSpPr>
        <p:spPr>
          <a:xfrm>
            <a:off x="5466283" y="2962656"/>
            <a:ext cx="13752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Expert System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987845" y="2962656"/>
            <a:ext cx="1214323" cy="475488"/>
          </a:xfrm>
          <a:prstGeom prst="roundRect">
            <a:avLst>
              <a:gd name="adj" fmla="val 50000"/>
            </a:avLst>
          </a:prstGeom>
          <a:solidFill>
            <a:srgbClr val="F0E8F7"/>
          </a:solidFill>
          <a:ln/>
        </p:spPr>
      </p:sp>
      <p:sp>
        <p:nvSpPr>
          <p:cNvPr id="18" name="Text 15"/>
          <p:cNvSpPr/>
          <p:nvPr/>
        </p:nvSpPr>
        <p:spPr>
          <a:xfrm>
            <a:off x="6987845" y="2962656"/>
            <a:ext cx="121432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Fuzzy Logic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348472" y="2962656"/>
            <a:ext cx="1777594" cy="475488"/>
          </a:xfrm>
          <a:prstGeom prst="roundRect">
            <a:avLst>
              <a:gd name="adj" fmla="val 50000"/>
            </a:avLst>
          </a:prstGeom>
          <a:solidFill>
            <a:srgbClr val="F0E8F7"/>
          </a:solidFill>
          <a:ln/>
        </p:spPr>
      </p:sp>
      <p:sp>
        <p:nvSpPr>
          <p:cNvPr id="20" name="Text 17"/>
          <p:cNvSpPr/>
          <p:nvPr/>
        </p:nvSpPr>
        <p:spPr>
          <a:xfrm>
            <a:off x="8348472" y="2962656"/>
            <a:ext cx="177759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Informatics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703320" y="352958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Chip oranye = interest profil Google Scholar; chip ungu = bidang keahlian direktori FSTI.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703320" y="4626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SOROTAN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3703320" y="4901184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Mamdani Fuzzy Expert System untuk diagnosis penyakit infeksius — </a:t>
            </a: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Jurnal RESTI (SINTA 2); hilirisasi HKI DBXs &amp; ELREST.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3703320" y="56875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  </a:t>
            </a: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Sitasi Scholar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6400800" y="56875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 </a:t>
            </a: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h-index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9098280" y="56875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 </a:t>
            </a: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Dokumen Scopus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_PRESENTASI_BINUS_BDSRC/lambang_uwg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28" y="292608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SISTEKIN FSTI UWG × BINUS BDSRC —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292840" y="64556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DOSEN HOMEBASE SISTEKIN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7498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Affi Nizar Suksmawati, S.Kom., M.Cs.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13350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 · Expert System · Fuzzy Logic · CBR · Health Informatics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92440" y="5120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SITASI SCHOLAR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7315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92440" y="13167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SINTA ID: </a:t>
            </a: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6937019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15200" y="15910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Scopus: 6 dokumen · M.Cs. UGM 2022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1828800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PENELITIAN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2377440"/>
            <a:ext cx="53949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 pakar, fuzzy logic &amp; machine learning untuk domain kesehatan: Mamdani Fuzzy Expert System diagnosis penyakit infeksius (J. RESTI — SINTA 2), perbandingan CBR vs Dempster-Shafer, serta machine learning sebagai inference engine untuk diagnosis DBD &amp; faringitis (IEEE). Karya terdisitasi: deteksi depresi Twitter berbasis Bi-LSTM.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4041648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Mamdani Fuzzy Expert System for Online Learning — Infectious Diseases (J. RESTI 2022)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Perbandingan Metode CBR dan Dempster-Shafer — Sistem Pakar Layanan Kesehatan (J. RESTI 2021)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Comparison of ML as Inference Engine — Dengue Disease (JOIV 2025 · Q2)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Investigation of ML as Inference Engine — Pharyngitis (IEEE ISRITI 2024)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Expert System Integrated with Medical Record — Certainty Factor (IEEE 2022)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55080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PENGABDIAN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55080" y="2377440"/>
            <a:ext cx="528523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Hilirisasi riset ke produk HKI (DBXs — diagnosis DBD berbasis ML; ELREST) dan pemberdayaan UMKM minuman herbal melalui inovasi QR Code edukatif, teknologi produksi, serta pendampingan sertifikasi halal. Editor buku referensi inovasi teknologi pendukung SDGs.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55080" y="4041648"/>
            <a:ext cx="5285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Inovasi QR Code Edukatif &amp; Teknologi Produksi UMKM Minuman Herbal (PROPENMAS 2025 — ketua)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Penguatan Kapasitas UMKM Minuman Herbal — Sertifikasi Halal &amp; Diversifikasi Produk (2026)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Pemberdayaan Budidaya Cacing ANC — Website Sistem Informasi &amp; Digital Marketing (2025)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_PRESENTASI_BINUS_BDSRC/lambang_uwg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28" y="292608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SISTEKIN FSTI UWG × BINUS BDSRC —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292840" y="64556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DOSEN HOMEBASE SISTEKIN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281160" y="457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77240" y="1481328"/>
            <a:ext cx="2331720" cy="2331720"/>
          </a:xfrm>
          <a:prstGeom prst="ellipse">
            <a:avLst/>
          </a:prstGeom>
          <a:solidFill>
            <a:srgbClr val="FDEADF"/>
          </a:solidFill>
          <a:ln w="19050">
            <a:solidFill>
              <a:srgbClr val="F26A21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777240" y="1481328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DS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502920" y="393192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placeholder foto dosen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703320" y="1481328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 Septiani, S.Kom., M.Kom.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3703320" y="212140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Dosen Homebase · S3 (tugas belajar) ITS · M.Kom. Universitas Brawijaya (2023)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703320" y="263347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BIDANG KEAHLIAN — DIREKTORI FSTI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703320" y="2962656"/>
            <a:ext cx="2421331" cy="475488"/>
          </a:xfrm>
          <a:prstGeom prst="roundRect">
            <a:avLst>
              <a:gd name="adj" fmla="val 50000"/>
            </a:avLst>
          </a:prstGeom>
          <a:solidFill>
            <a:srgbClr val="F0E8F7"/>
          </a:solidFill>
          <a:ln/>
        </p:spPr>
      </p:sp>
      <p:sp>
        <p:nvSpPr>
          <p:cNvPr id="14" name="Text 11"/>
          <p:cNvSpPr/>
          <p:nvPr/>
        </p:nvSpPr>
        <p:spPr>
          <a:xfrm>
            <a:off x="3703320" y="2962656"/>
            <a:ext cx="24213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Manajemen Sistem Informasi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70955" y="2962656"/>
            <a:ext cx="892454" cy="475488"/>
          </a:xfrm>
          <a:prstGeom prst="roundRect">
            <a:avLst>
              <a:gd name="adj" fmla="val 50000"/>
            </a:avLst>
          </a:prstGeom>
          <a:solidFill>
            <a:srgbClr val="F0E8F7"/>
          </a:solidFill>
          <a:ln/>
        </p:spPr>
      </p:sp>
      <p:sp>
        <p:nvSpPr>
          <p:cNvPr id="16" name="Text 13"/>
          <p:cNvSpPr/>
          <p:nvPr/>
        </p:nvSpPr>
        <p:spPr>
          <a:xfrm>
            <a:off x="6270955" y="2962656"/>
            <a:ext cx="89245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VR &amp; AR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309714" y="2962656"/>
            <a:ext cx="1375258" cy="475488"/>
          </a:xfrm>
          <a:prstGeom prst="roundRect">
            <a:avLst>
              <a:gd name="adj" fmla="val 50000"/>
            </a:avLst>
          </a:prstGeom>
          <a:solidFill>
            <a:srgbClr val="F0E8F7"/>
          </a:solidFill>
          <a:ln/>
        </p:spPr>
      </p:sp>
      <p:sp>
        <p:nvSpPr>
          <p:cNvPr id="18" name="Text 15"/>
          <p:cNvSpPr/>
          <p:nvPr/>
        </p:nvSpPr>
        <p:spPr>
          <a:xfrm>
            <a:off x="7309714" y="2962656"/>
            <a:ext cx="13752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Multimedia 3D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703320" y="352958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 Google Scholar &amp; SINTA belum terbentuk — publikasi dipetakan seiring pembentukan prodi (2025/2026).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703320" y="4626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SOROTAN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3703320" y="4901184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 riset: media imersif VR/AR untuk edukasi &amp; promosi — </a:t>
            </a: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serta visualisasi 3D interaktif dan evaluasi UX sistem informasi.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3703320" y="56875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 </a:t>
            </a: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Dosen baru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400800" y="56875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  </a:t>
            </a: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Tugas belajar ITS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098280" y="56875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S2  </a:t>
            </a: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M.SI. UB 2023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_PRESENTASI_BINUS_BDSRC/lambang_uwg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28" y="292608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SISTEKIN FSTI UWG × BINUS BDSRC —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292840" y="64556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DOSEN HOMEBASE SISTEKIN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7498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 Septiani, S.Kom., M.Kom.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13350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Manajemen Sistem Informasi · Virtual Reality · Augmented Reality · Multimedia 3D · UX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92440" y="5120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SITASI SCHOLAR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7315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92440" y="13167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SINTA ID: </a:t>
            </a: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15200" y="15910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Dosen baru 2026 · S3 (tugas belajar) ITS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1828800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PENELITIAN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2377440"/>
            <a:ext cx="53949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Homebase keilmuan Manajemen Sistem Informasi, VR &amp; AR, serta Multimedia 3D. Agenda riset SISTEKIN yang diampu: perancangan sistem informasi manajemen berbasis pengguna, pengembangan media imersif (VR/AR) untuk edukasi dan promosi, visualisasi 3D interaktif, serta evaluasi UX sistem informasi organisasi. Publikasi terindeks SINTA/Scholar sedang dipetakan seiring pembentukan prodi baru.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4041648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 Riset: Perancangan Manajemen Sistem Informasi Berorientasi Pengguna (2026)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 Riset: Integrasi VR &amp; AR pada Media Pembelajaran dan Promosi (2026)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 Riset: Multimedia 3D &amp; Visualisasi Interaktif untuk Sistem Informasi (2026)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55080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PENGABDIAN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55080" y="2377440"/>
            <a:ext cx="528523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Literasi digital, digitalisasi layanan organisasi, dan pemanfaatan media imersif untuk UMKM serta institusi pendidikan: pelatihan perancangan sistem informasi, prototipe AR untuk katalog produk, dan pendampingan konten multimedia 3D sebagai media komunikasi publik.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55080" y="4041648"/>
            <a:ext cx="5285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Pendampingan Digitalisasi Sistem Informasi untuk Institusi Pendidikan &amp; UMKM (2026)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Pelatihan Media AR/VR dan Multimedia 3D — Sarana Promosi Produk Lokal (2026)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_PRESENTASI_BINUS_BDSRC/lambang_uwg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28" y="292608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SISTEKIN FSTI UWG × BINUS BDSRC —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292840" y="64556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DOSEN HOMEBASE SISTEKIN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281160" y="457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77240" y="1481328"/>
            <a:ext cx="2331720" cy="2331720"/>
          </a:xfrm>
          <a:prstGeom prst="ellipse">
            <a:avLst/>
          </a:prstGeom>
          <a:solidFill>
            <a:srgbClr val="FDEADF"/>
          </a:solidFill>
          <a:ln w="19050">
            <a:solidFill>
              <a:srgbClr val="F26A21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777240" y="1481328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502920" y="393192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placeholder foto dosen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703320" y="1481328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Mamba'us Sa'adah, S.ST., M.T.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3703320" y="212140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Dosen Homebase · M.T. Teknik Elektro ITS (2019) · D4 PENS (2015)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703320" y="263347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FOKUS BIDANG PENELITIAN — GOOGLE SCHOLAR + DIREKTORI FSTI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703320" y="2962656"/>
            <a:ext cx="2179930" cy="475488"/>
          </a:xfrm>
          <a:prstGeom prst="roundRect">
            <a:avLst>
              <a:gd name="adj" fmla="val 50000"/>
            </a:avLst>
          </a:prstGeom>
          <a:solidFill>
            <a:srgbClr val="FDEADF"/>
          </a:solidFill>
          <a:ln/>
        </p:spPr>
      </p:sp>
      <p:sp>
        <p:nvSpPr>
          <p:cNvPr id="14" name="Text 11"/>
          <p:cNvSpPr/>
          <p:nvPr/>
        </p:nvSpPr>
        <p:spPr>
          <a:xfrm>
            <a:off x="3703320" y="2962656"/>
            <a:ext cx="21799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 Signal Processing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029554" y="2962656"/>
            <a:ext cx="1133856" cy="475488"/>
          </a:xfrm>
          <a:prstGeom prst="roundRect">
            <a:avLst>
              <a:gd name="adj" fmla="val 50000"/>
            </a:avLst>
          </a:prstGeom>
          <a:solidFill>
            <a:srgbClr val="F0E8F7"/>
          </a:solidFill>
          <a:ln/>
        </p:spPr>
      </p:sp>
      <p:sp>
        <p:nvSpPr>
          <p:cNvPr id="16" name="Text 13"/>
          <p:cNvSpPr/>
          <p:nvPr/>
        </p:nvSpPr>
        <p:spPr>
          <a:xfrm>
            <a:off x="6029554" y="2962656"/>
            <a:ext cx="1133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Multimedia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309714" y="2962656"/>
            <a:ext cx="1697126" cy="475488"/>
          </a:xfrm>
          <a:prstGeom prst="roundRect">
            <a:avLst>
              <a:gd name="adj" fmla="val 50000"/>
            </a:avLst>
          </a:prstGeom>
          <a:solidFill>
            <a:srgbClr val="F0E8F7"/>
          </a:solidFill>
          <a:ln/>
        </p:spPr>
      </p:sp>
      <p:sp>
        <p:nvSpPr>
          <p:cNvPr id="18" name="Text 15"/>
          <p:cNvSpPr/>
          <p:nvPr/>
        </p:nvSpPr>
        <p:spPr>
          <a:xfrm>
            <a:off x="7309714" y="2962656"/>
            <a:ext cx="16971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Pengolahan Sinyal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703320" y="352958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Chip oranye = interest profil Google Scholar; chip ungu = bidang keahlian direktori FSTI.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703320" y="4626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SOROTAN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3703320" y="4901184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Noise cancellation sinyal gamelan dengan filter adaptif LMS — </a:t>
            </a: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tesis M.T. ITS (2019); riset terkini: suara pernapasan untuk AI diagnostik.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3703320" y="56875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 </a:t>
            </a: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Sitasi Scholar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400800" y="56875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 </a:t>
            </a: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h-index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098280" y="56875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 </a:t>
            </a: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Publikasi Scholar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_PRESENTASI_BINUS_BDSRC/lambang_uwg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28" y="292608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SISTEKIN FSTI UWG × BINUS BDSRC —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292840" y="64556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DOSEN HOMEBASE SISTEKIN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7498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Mamba'us Sa'adah, S.ST., M.T.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13350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Multimedia · Audio Signal Processing · Adaptive Filter · Digital Signal Processing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92440" y="5120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SITASI SCHOLAR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7315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92440" y="13167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SINTA ID: </a:t>
            </a: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15200" y="15910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h-index 3 · M.T. Teknik Elektro ITS 2019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1828800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26A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PENELITIAN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2377440"/>
            <a:ext cx="53949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Pengolahan sinyal audio &amp; multimedia: filter adaptif Least Mean Square (LMS) dan Recursive Least Square (RLS) untuk noise cancellation sinyal gamelan, deteksi instrumen identik, serta pengurangan noise RTL-SDR siaran radio FM (J. RESTI 2020 — SINTA 2). Riset terkini merambah klasifikasi suara pernapasan berbasis deep learning untuk AI diagnostik.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4041648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Noise Cancellation in Gamelan Signal — LMS Based Adaptive Filter (IJSST 2018)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Noise Reduction in RTL-SDR using LMS &amp; RLS (J. RESTI 2020)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Identical Instruments Detection — LMS Based Adaptive Filter (J. Physics Conf. Series 2019)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Engineering &amp; Deep Learning in Respiratory Sound Classification — SLR (JOINTECS 2025)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Philosophical Ontology of Signal &amp; Information (JSAE 2026)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55080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5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PENGABDIAN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55080" y="2377440"/>
            <a:ext cx="528523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Hilirisasi keahlian audio/multimedia: peningkatan kualitas siaran komunitas, analisis QoS layanan digital masyarakat, dan pendampingan UMKM melalui analitik transaksi (Apriori). Potensi lanjutan: restorasi audio tradisional gamelan &amp; sistem multimedia edukatif.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55080" y="4041648"/>
            <a:ext cx="5285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Kajian Etik Pengumpulan Dataset Suara Pernapasan untuk Model AI Diagnostik (2025)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Analisis Transaksi Penjualan UMKM menggunakan Algoritma Apriori (2025)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Perkenalan SISTEKIN x BINUS BDSRC</dc:title>
  <dc:subject>PptxGenJS Presentation</dc:subject>
  <dc:creator>Prodi SISTEKIN FSTI UWG</dc:creator>
  <cp:lastModifiedBy>Prodi SISTEKIN FSTI UWG</cp:lastModifiedBy>
  <cp:revision>1</cp:revision>
  <dcterms:created xsi:type="dcterms:W3CDTF">2026-10-01T02:04:16Z</dcterms:created>
  <dcterms:modified xsi:type="dcterms:W3CDTF">2026-10-01T02:04:16Z</dcterms:modified>
</cp:coreProperties>
</file>